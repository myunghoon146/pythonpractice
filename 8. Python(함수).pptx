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569CD6"/>
    <a:srgbClr val="FF0000"/>
    <a:srgbClr val="FFFFFF"/>
    <a:srgbClr val="2F5597"/>
    <a:srgbClr val="FF7C80"/>
    <a:srgbClr val="38A2D3"/>
    <a:srgbClr val="CC99FF"/>
    <a:srgbClr val="F5F5F5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31" autoAdjust="0"/>
    <p:restoredTop sz="90663" autoAdjust="0"/>
  </p:normalViewPr>
  <p:slideViewPr>
    <p:cSldViewPr snapToGrid="0">
      <p:cViewPr varScale="1">
        <p:scale>
          <a:sx n="36" d="100"/>
          <a:sy n="36" d="100"/>
        </p:scale>
        <p:origin x="1302" y="54"/>
      </p:cViewPr>
      <p:guideLst>
        <p:guide orient="horz" pos="2160"/>
        <p:guide pos="3840"/>
        <p:guide pos="3863"/>
      </p:guideLst>
    </p:cSldViewPr>
  </p:slideViewPr>
  <p:outlineViewPr>
    <p:cViewPr>
      <p:scale>
        <a:sx n="25" d="100"/>
        <a:sy n="25" d="100"/>
      </p:scale>
      <p:origin x="0" y="-157908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36FC3-1300-44CC-BD4C-1979DDB3B44F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F8B1E-7E1C-4785-8B1C-C42E5A7063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63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https://www.youtube.com/shorts/CxF8idrSlmM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F8B1E-7E1C-4785-8B1C-C42E5A70639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10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7CCEB-91EF-0E34-DAD1-80B3CDC67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BF0C58-0C5D-331A-0DD2-45C8C641E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F4B5E-2A24-DABF-52B5-FA016DDF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05C33-1DC7-4817-BCB1-CE0D539B8D1B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830A1B-E805-AD4D-3A62-8F44C183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2D483-9F20-533D-6854-87FBBA20C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39824-8ABE-4C26-89CC-2CF2E23D24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29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DA9C0CA9-3558-61BE-C034-3305E6BFCACC}"/>
              </a:ext>
            </a:extLst>
          </p:cNvPr>
          <p:cNvSpPr txBox="1">
            <a:spLocks/>
          </p:cNvSpPr>
          <p:nvPr userDrawn="1"/>
        </p:nvSpPr>
        <p:spPr>
          <a:xfrm>
            <a:off x="0" y="136525"/>
            <a:ext cx="12192000" cy="46874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A050470-AF1D-9F13-1519-A3D75BD04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77" y="136525"/>
            <a:ext cx="11179833" cy="468745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0E23316-0263-02E0-57E8-CB844DF58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81" y="759125"/>
            <a:ext cx="11808429" cy="5417838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1" name="날짜 개체 틀 3">
            <a:extLst>
              <a:ext uri="{FF2B5EF4-FFF2-40B4-BE49-F238E27FC236}">
                <a16:creationId xmlns:a16="http://schemas.microsoft.com/office/drawing/2014/main" id="{7E223C74-DAE3-6A4C-C9F3-4BB8A7A9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BF05C33-1DC7-4817-BCB1-CE0D539B8D1B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4A87121B-B59D-E2C8-64DC-9AAF5097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1B3E0C0C-1820-0A14-5728-18615137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6755" y="6399482"/>
            <a:ext cx="1416170" cy="365125"/>
          </a:xfrm>
        </p:spPr>
        <p:txBody>
          <a:bodyPr/>
          <a:lstStyle/>
          <a:p>
            <a:fld id="{8A039824-8ABE-4C26-89CC-2CF2E23D245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5" name="Picture 2" descr="파이썬(Python)이란?">
            <a:extLst>
              <a:ext uri="{FF2B5EF4-FFF2-40B4-BE49-F238E27FC236}">
                <a16:creationId xmlns:a16="http://schemas.microsoft.com/office/drawing/2014/main" id="{12FFC1BA-893C-1081-C367-913D169601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41" y="170856"/>
            <a:ext cx="399896" cy="40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95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CE083D4D-443A-D607-A675-AF940BBD1051}"/>
              </a:ext>
            </a:extLst>
          </p:cNvPr>
          <p:cNvSpPr txBox="1">
            <a:spLocks/>
          </p:cNvSpPr>
          <p:nvPr userDrawn="1"/>
        </p:nvSpPr>
        <p:spPr>
          <a:xfrm>
            <a:off x="0" y="136525"/>
            <a:ext cx="12192000" cy="46874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0522ADC1-17F1-3250-58E7-F697F96BE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77" y="136525"/>
            <a:ext cx="11179833" cy="468745"/>
          </a:xfrm>
          <a:solidFill>
            <a:schemeClr val="accent1">
              <a:lumMod val="75000"/>
            </a:schemeClr>
          </a:solidFill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E3C6E6F-FB89-9731-86C7-EDAB3807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81" y="759125"/>
            <a:ext cx="11808429" cy="5417838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5801DAAC-2022-21BA-F9B4-75168F4E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BF05C33-1DC7-4817-BCB1-CE0D539B8D1B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620D871E-197B-7AE3-3C21-61DAEBE0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0FF3C005-9521-D408-4384-580A5143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6755" y="6399482"/>
            <a:ext cx="1416170" cy="365125"/>
          </a:xfrm>
        </p:spPr>
        <p:txBody>
          <a:bodyPr/>
          <a:lstStyle/>
          <a:p>
            <a:fld id="{8A039824-8ABE-4C26-89CC-2CF2E23D245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5C3DEA7-2CFE-3469-BE92-82593E8A5BA3}"/>
              </a:ext>
            </a:extLst>
          </p:cNvPr>
          <p:cNvCxnSpPr>
            <a:cxnSpLocks/>
          </p:cNvCxnSpPr>
          <p:nvPr userDrawn="1"/>
        </p:nvCxnSpPr>
        <p:spPr>
          <a:xfrm>
            <a:off x="6096000" y="721025"/>
            <a:ext cx="0" cy="5835639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파이썬(Python)이란?">
            <a:extLst>
              <a:ext uri="{FF2B5EF4-FFF2-40B4-BE49-F238E27FC236}">
                <a16:creationId xmlns:a16="http://schemas.microsoft.com/office/drawing/2014/main" id="{84B15B12-105A-5328-6B44-E3B7517E69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41" y="170856"/>
            <a:ext cx="399896" cy="40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703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95D71A3-8203-0BEE-B725-D7CAF02E21D7}"/>
              </a:ext>
            </a:extLst>
          </p:cNvPr>
          <p:cNvSpPr/>
          <p:nvPr userDrawn="1"/>
        </p:nvSpPr>
        <p:spPr>
          <a:xfrm>
            <a:off x="-508000" y="2423886"/>
            <a:ext cx="13599886" cy="159657"/>
          </a:xfrm>
          <a:prstGeom prst="rect">
            <a:avLst/>
          </a:prstGeom>
          <a:solidFill>
            <a:srgbClr val="2F559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295139-812A-2802-78E1-F4BEB22E6E4B}"/>
              </a:ext>
            </a:extLst>
          </p:cNvPr>
          <p:cNvSpPr/>
          <p:nvPr userDrawn="1"/>
        </p:nvSpPr>
        <p:spPr>
          <a:xfrm>
            <a:off x="-508000" y="4274458"/>
            <a:ext cx="13599886" cy="159657"/>
          </a:xfrm>
          <a:prstGeom prst="rect">
            <a:avLst/>
          </a:prstGeom>
          <a:solidFill>
            <a:srgbClr val="2F559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48326A2-4101-EE46-6C85-A37DA55B03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582863"/>
            <a:ext cx="12192000" cy="16922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288102866"/>
      </p:ext>
    </p:extLst>
  </p:cSld>
  <p:clrMapOvr>
    <a:masterClrMapping/>
  </p:clrMapOvr>
  <p:transition spd="slow">
    <p:comb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69A0CA-15F7-127E-E4BC-3880D87EC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71AC99-9F1D-EABF-1184-5F49336D8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2882E-8CF4-DD1B-8AA3-520B9D5A5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05C33-1DC7-4817-BCB1-CE0D539B8D1B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800A00-0548-17B5-EB2A-8810BE8AB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CEBB5C-CAC8-907D-3BC5-96D7DD8FC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39824-8ABE-4C26-89CC-2CF2E23D24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62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80.svg"/><Relationship Id="rId3" Type="http://schemas.openxmlformats.org/officeDocument/2006/relationships/image" Target="../media/image70.svg"/><Relationship Id="rId7" Type="http://schemas.openxmlformats.org/officeDocument/2006/relationships/image" Target="../media/image74.svg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78.svg"/><Relationship Id="rId5" Type="http://schemas.openxmlformats.org/officeDocument/2006/relationships/image" Target="../media/image72.sv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8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0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B0CE28-BCEF-09B1-099F-446126FDA5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2193868622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7E68C-4C7E-74C4-D96D-776CA05B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 </a:t>
            </a:r>
            <a:r>
              <a:rPr lang="en-US" altLang="ko-KR"/>
              <a:t>?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0880BB-EFD0-2175-2EDA-0FC0C0AC7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70" y="1456380"/>
            <a:ext cx="5087060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7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32B00-F508-3F43-5BB9-068FE7B0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E2F6FE-F98A-3E65-4AC4-31736C7FB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특정 작업을 수행하는 여러 줄의 코드를 하나로 묶은 코드 덩어리</a:t>
            </a:r>
            <a:endParaRPr lang="en-US" altLang="ko-KR"/>
          </a:p>
          <a:p>
            <a:r>
              <a:rPr lang="ko-KR" altLang="en-US"/>
              <a:t>같은 기능을 </a:t>
            </a:r>
            <a:r>
              <a:rPr lang="en-US" altLang="ko-KR"/>
              <a:t>2</a:t>
            </a:r>
            <a:r>
              <a:rPr lang="ko-KR" altLang="en-US"/>
              <a:t>번 이상 사용할 경우 함수로 묶어주자</a:t>
            </a:r>
            <a:r>
              <a:rPr lang="en-US" altLang="ko-KR"/>
              <a:t>!</a:t>
            </a:r>
          </a:p>
          <a:p>
            <a:r>
              <a:rPr lang="ko-KR" altLang="en-US"/>
              <a:t>함수 사용의 장점</a:t>
            </a:r>
            <a:endParaRPr lang="en-US" altLang="ko-KR"/>
          </a:p>
          <a:p>
            <a:pPr lvl="1"/>
            <a:r>
              <a:rPr lang="ko-KR" altLang="en-US"/>
              <a:t>반복적인 코드 제거</a:t>
            </a:r>
            <a:endParaRPr lang="en-US" altLang="ko-KR"/>
          </a:p>
          <a:p>
            <a:pPr lvl="1"/>
            <a:r>
              <a:rPr lang="ko-KR" altLang="en-US"/>
              <a:t>재사용성 향상</a:t>
            </a:r>
            <a:endParaRPr lang="en-US" altLang="ko-KR"/>
          </a:p>
          <a:p>
            <a:pPr lvl="1"/>
            <a:r>
              <a:rPr lang="ko-KR" altLang="en-US"/>
              <a:t>코드 가독성 및 유지보수성 향상</a:t>
            </a:r>
            <a:endParaRPr lang="en-US" altLang="ko-KR"/>
          </a:p>
          <a:p>
            <a:pPr lvl="1"/>
            <a:r>
              <a:rPr lang="ko-KR" altLang="en-US"/>
              <a:t>오류 추적 및 디버깅 용이</a:t>
            </a:r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3713D-19E7-DA0D-4ED8-6DE860E36B35}"/>
              </a:ext>
            </a:extLst>
          </p:cNvPr>
          <p:cNvSpPr txBox="1"/>
          <p:nvPr/>
        </p:nvSpPr>
        <p:spPr>
          <a:xfrm>
            <a:off x="776376" y="3680936"/>
            <a:ext cx="79294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en-US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함수 테스트입니다</a:t>
            </a:r>
            <a:r>
              <a:rPr lang="en-US" altLang="ko-KR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이렇게 여러번 출력하는 것을 묶을 수 있어요</a:t>
            </a:r>
            <a:r>
              <a:rPr lang="en-US" altLang="ko-KR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함수는 위쪽에 모아두는 것을 권장해요</a:t>
            </a:r>
            <a:r>
              <a:rPr lang="en-US" altLang="ko-KR" sz="20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altLang="ko-KR" sz="2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58EFD0-93F7-5D23-D13F-677252F90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115" y="4193399"/>
            <a:ext cx="3621104" cy="245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56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EC232-BF92-2F28-7909-C9465CF6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함수의 구성요소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E5C80-7EF8-EBDB-19B9-C91DBE43A5C3}"/>
              </a:ext>
            </a:extLst>
          </p:cNvPr>
          <p:cNvSpPr txBox="1"/>
          <p:nvPr/>
        </p:nvSpPr>
        <p:spPr>
          <a:xfrm>
            <a:off x="2108618" y="2380387"/>
            <a:ext cx="9296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28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함수이름</a:t>
            </a:r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[</a:t>
            </a:r>
            <a:r>
              <a:rPr lang="ko-KR" altLang="en-US" sz="2800" b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매개변수</a:t>
            </a:r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매개변수 </a:t>
            </a:r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 ] ):</a:t>
            </a:r>
          </a:p>
          <a:p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 </a:t>
            </a:r>
            <a:r>
              <a:rPr lang="ko-KR" alt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명령문</a:t>
            </a:r>
          </a:p>
          <a:p>
            <a:r>
              <a:rPr lang="ko-KR" alt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 명령문</a:t>
            </a:r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280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ko-KR" alt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무언가</a:t>
            </a:r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ko-KR" sz="28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27149F5-8285-F2B1-F9EA-555D1B6961A0}"/>
              </a:ext>
            </a:extLst>
          </p:cNvPr>
          <p:cNvCxnSpPr/>
          <p:nvPr/>
        </p:nvCxnSpPr>
        <p:spPr>
          <a:xfrm>
            <a:off x="2190750" y="1838325"/>
            <a:ext cx="342900" cy="54292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4980205-2B03-C2C7-BA9B-20D2E02211CD}"/>
              </a:ext>
            </a:extLst>
          </p:cNvPr>
          <p:cNvSpPr txBox="1"/>
          <p:nvPr/>
        </p:nvSpPr>
        <p:spPr>
          <a:xfrm>
            <a:off x="739495" y="1468353"/>
            <a:ext cx="2738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정의하다</a:t>
            </a:r>
            <a:r>
              <a:rPr lang="en-US" altLang="ko-KR" b="1">
                <a:solidFill>
                  <a:schemeClr val="bg1"/>
                </a:solidFill>
              </a:rPr>
              <a:t>(define)</a:t>
            </a:r>
            <a:r>
              <a:rPr lang="ko-KR" altLang="en-US" b="1">
                <a:solidFill>
                  <a:schemeClr val="bg1"/>
                </a:solidFill>
              </a:rPr>
              <a:t>의 약자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F8656-13AA-1911-BEF4-5C4080FB3EBF}"/>
              </a:ext>
            </a:extLst>
          </p:cNvPr>
          <p:cNvSpPr txBox="1"/>
          <p:nvPr/>
        </p:nvSpPr>
        <p:spPr>
          <a:xfrm>
            <a:off x="5087956" y="1283687"/>
            <a:ext cx="366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외부에서 전달받을 값의 개수만큼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A71821-449E-2D7E-8AD7-5C8D3246C14F}"/>
              </a:ext>
            </a:extLst>
          </p:cNvPr>
          <p:cNvSpPr txBox="1"/>
          <p:nvPr/>
        </p:nvSpPr>
        <p:spPr>
          <a:xfrm>
            <a:off x="2858075" y="4950812"/>
            <a:ext cx="3050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함수를 부른 곳에 돌려줄 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B28500-4E91-5116-14FF-989656850A1B}"/>
              </a:ext>
            </a:extLst>
          </p:cNvPr>
          <p:cNvSpPr txBox="1"/>
          <p:nvPr/>
        </p:nvSpPr>
        <p:spPr>
          <a:xfrm>
            <a:off x="6405864" y="3138695"/>
            <a:ext cx="397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이 함수를 호출하면 실행할 명령어들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04C6F12-9699-08C5-36AA-8D3F79971474}"/>
              </a:ext>
            </a:extLst>
          </p:cNvPr>
          <p:cNvCxnSpPr>
            <a:cxnSpLocks/>
          </p:cNvCxnSpPr>
          <p:nvPr/>
        </p:nvCxnSpPr>
        <p:spPr>
          <a:xfrm flipV="1">
            <a:off x="4383493" y="4631462"/>
            <a:ext cx="0" cy="368568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B761C09-2F52-F4D4-A4B4-0DA52276E750}"/>
              </a:ext>
            </a:extLst>
          </p:cNvPr>
          <p:cNvCxnSpPr>
            <a:cxnSpLocks/>
          </p:cNvCxnSpPr>
          <p:nvPr/>
        </p:nvCxnSpPr>
        <p:spPr>
          <a:xfrm>
            <a:off x="6815961" y="1653019"/>
            <a:ext cx="0" cy="727368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4887815-A532-A6DB-2DCA-9E1A0237A73E}"/>
              </a:ext>
            </a:extLst>
          </p:cNvPr>
          <p:cNvCxnSpPr>
            <a:cxnSpLocks/>
          </p:cNvCxnSpPr>
          <p:nvPr/>
        </p:nvCxnSpPr>
        <p:spPr>
          <a:xfrm flipH="1">
            <a:off x="4991100" y="3323361"/>
            <a:ext cx="1414764" cy="0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12C4D0BE-7A93-3B3D-C9D4-8BBEBB224B96}"/>
              </a:ext>
            </a:extLst>
          </p:cNvPr>
          <p:cNvSpPr/>
          <p:nvPr/>
        </p:nvSpPr>
        <p:spPr>
          <a:xfrm>
            <a:off x="4733925" y="2981102"/>
            <a:ext cx="171450" cy="686018"/>
          </a:xfrm>
          <a:prstGeom prst="rightBrace">
            <a:avLst/>
          </a:prstGeom>
          <a:ln w="19050">
            <a:solidFill>
              <a:srgbClr val="FFFF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6345562-2195-B64D-C54D-9EBE1DCF2A64}"/>
              </a:ext>
            </a:extLst>
          </p:cNvPr>
          <p:cNvCxnSpPr/>
          <p:nvPr/>
        </p:nvCxnSpPr>
        <p:spPr>
          <a:xfrm>
            <a:off x="4860925" y="2431187"/>
            <a:ext cx="4416425" cy="0"/>
          </a:xfrm>
          <a:prstGeom prst="line">
            <a:avLst/>
          </a:prstGeom>
          <a:ln w="19050">
            <a:solidFill>
              <a:srgbClr val="FFFF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04DFF9C-F587-D2CE-9FE2-DBE344B6D45D}"/>
              </a:ext>
            </a:extLst>
          </p:cNvPr>
          <p:cNvCxnSpPr>
            <a:cxnSpLocks/>
          </p:cNvCxnSpPr>
          <p:nvPr/>
        </p:nvCxnSpPr>
        <p:spPr>
          <a:xfrm>
            <a:off x="2232025" y="2431187"/>
            <a:ext cx="561975" cy="0"/>
          </a:xfrm>
          <a:prstGeom prst="line">
            <a:avLst/>
          </a:prstGeom>
          <a:ln w="19050">
            <a:solidFill>
              <a:srgbClr val="FFFF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1D52A84-60AE-9629-15F7-24B1EFB651F3}"/>
              </a:ext>
            </a:extLst>
          </p:cNvPr>
          <p:cNvCxnSpPr>
            <a:cxnSpLocks/>
          </p:cNvCxnSpPr>
          <p:nvPr/>
        </p:nvCxnSpPr>
        <p:spPr>
          <a:xfrm>
            <a:off x="3119472" y="4631462"/>
            <a:ext cx="2679057" cy="0"/>
          </a:xfrm>
          <a:prstGeom prst="line">
            <a:avLst/>
          </a:prstGeom>
          <a:ln w="19050">
            <a:solidFill>
              <a:srgbClr val="FFFF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82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670B0-EC8F-4EF3-47CF-B4FAC77CC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함수의 동작원리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EF9C5-4C89-BD8B-3887-5C6B7DFA242F}"/>
              </a:ext>
            </a:extLst>
          </p:cNvPr>
          <p:cNvSpPr txBox="1"/>
          <p:nvPr/>
        </p:nvSpPr>
        <p:spPr>
          <a:xfrm>
            <a:off x="279818" y="742087"/>
            <a:ext cx="1050248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ko-KR" alt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2800" b="1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커피한잔좀사와봐</a:t>
            </a:r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ko-KR" alt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대성쌤카드</a:t>
            </a:r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):</a:t>
            </a:r>
          </a:p>
          <a:p>
            <a:r>
              <a:rPr lang="en-US" altLang="ko-KR" sz="280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ko-KR" altLang="en-US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길건너있는 바나나프레스로 감</a:t>
            </a:r>
            <a:endParaRPr lang="en-US" altLang="ko-KR" sz="28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ko-KR" sz="280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ko-KR" altLang="en-US" sz="2800">
                <a:solidFill>
                  <a:srgbClr val="D4D4D4"/>
                </a:solidFill>
                <a:latin typeface="Consolas" panose="020B0609020204030204" pitchFamily="49" charset="0"/>
              </a:rPr>
              <a:t>시그니쳐 아메리카노 아이스 샷추가 대성쌤 카드로 구매</a:t>
            </a:r>
            <a:endParaRPr lang="en-US" altLang="ko-KR" sz="28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altLang="ko-KR" sz="280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ko-KR" altLang="en-US" sz="2800">
                <a:solidFill>
                  <a:srgbClr val="D4D4D4"/>
                </a:solidFill>
                <a:latin typeface="Consolas" panose="020B0609020204030204" pitchFamily="49" charset="0"/>
              </a:rPr>
              <a:t>사는김에 은근슬쩍 내꺼도 하나</a:t>
            </a:r>
            <a:r>
              <a:rPr lang="en-US" altLang="ko-KR" sz="2800">
                <a:solidFill>
                  <a:srgbClr val="D4D4D4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US" altLang="ko-KR" sz="280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ko-KR" altLang="en-US" sz="2800">
                <a:solidFill>
                  <a:srgbClr val="D4D4D4"/>
                </a:solidFill>
                <a:latin typeface="Consolas" panose="020B0609020204030204" pitchFamily="49" charset="0"/>
              </a:rPr>
              <a:t>다시 학원으로 돌아옴</a:t>
            </a:r>
            <a:endParaRPr lang="en-US" altLang="ko-KR" sz="28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28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800">
                <a:solidFill>
                  <a:srgbClr val="D4D4D4"/>
                </a:solidFill>
                <a:latin typeface="Consolas" panose="020B0609020204030204" pitchFamily="49" charset="0"/>
              </a:rPr>
              <a:t>	</a:t>
            </a:r>
            <a:r>
              <a:rPr lang="en-US" altLang="ko-KR" sz="280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280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2800" b="1">
                <a:solidFill>
                  <a:srgbClr val="D4D4D4"/>
                </a:solidFill>
                <a:latin typeface="Consolas" panose="020B0609020204030204" pitchFamily="49" charset="0"/>
              </a:rPr>
              <a:t>아아</a:t>
            </a:r>
            <a: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sz="2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ko-KR" sz="28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래픽 6" descr="사용자">
            <a:extLst>
              <a:ext uri="{FF2B5EF4-FFF2-40B4-BE49-F238E27FC236}">
                <a16:creationId xmlns:a16="http://schemas.microsoft.com/office/drawing/2014/main" id="{BC6D91EA-7B68-5F4F-F116-38EDEA3E7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309257" y="4015670"/>
            <a:ext cx="914400" cy="9144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9" name="그래픽 8" descr="실행">
            <a:extLst>
              <a:ext uri="{FF2B5EF4-FFF2-40B4-BE49-F238E27FC236}">
                <a16:creationId xmlns:a16="http://schemas.microsoft.com/office/drawing/2014/main" id="{E5EAD4A8-90C0-BF60-847C-3F59083BA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795896" y="4144700"/>
            <a:ext cx="914400" cy="9144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1" name="그래픽 10" descr="신용 카드">
            <a:extLst>
              <a:ext uri="{FF2B5EF4-FFF2-40B4-BE49-F238E27FC236}">
                <a16:creationId xmlns:a16="http://schemas.microsoft.com/office/drawing/2014/main" id="{96A28D87-D4A5-83B4-4E0D-215CC6EFB5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1309257" y="5410344"/>
            <a:ext cx="914400" cy="9144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3" name="그래픽 12" descr="커피">
            <a:extLst>
              <a:ext uri="{FF2B5EF4-FFF2-40B4-BE49-F238E27FC236}">
                <a16:creationId xmlns:a16="http://schemas.microsoft.com/office/drawing/2014/main" id="{1883BE8D-47CE-5EF6-3CEB-597D891F2E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968343" y="3206926"/>
            <a:ext cx="914400" cy="9144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5" name="그래픽 14" descr="키오스크">
            <a:extLst>
              <a:ext uri="{FF2B5EF4-FFF2-40B4-BE49-F238E27FC236}">
                <a16:creationId xmlns:a16="http://schemas.microsoft.com/office/drawing/2014/main" id="{6FECB32D-3ED3-4EE2-313D-388935E3F1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0604033" y="4174600"/>
            <a:ext cx="914400" cy="9144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665D401-502A-47BE-D2B2-F2760E3D50AB}"/>
              </a:ext>
            </a:extLst>
          </p:cNvPr>
          <p:cNvSpPr txBox="1"/>
          <p:nvPr/>
        </p:nvSpPr>
        <p:spPr>
          <a:xfrm>
            <a:off x="573530" y="4875534"/>
            <a:ext cx="2252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</a:rPr>
              <a:t>거기 자네</a:t>
            </a:r>
            <a:r>
              <a:rPr lang="en-US" altLang="ko-KR"/>
              <a:t>.</a:t>
            </a:r>
          </a:p>
          <a:p>
            <a:pPr algn="ctr"/>
            <a:r>
              <a:rPr lang="en-US" altLang="ko-KR" b="1">
                <a:solidFill>
                  <a:srgbClr val="FFFF00"/>
                </a:solidFill>
              </a:rPr>
              <a:t>"</a:t>
            </a:r>
            <a:r>
              <a:rPr lang="ko-KR" altLang="en-US" b="1">
                <a:solidFill>
                  <a:srgbClr val="FFFF00"/>
                </a:solidFill>
              </a:rPr>
              <a:t>커피한잔좀사와봐</a:t>
            </a:r>
            <a:r>
              <a:rPr lang="en-US" altLang="ko-KR" b="1">
                <a:solidFill>
                  <a:srgbClr val="FFFF00"/>
                </a:solidFill>
              </a:rPr>
              <a:t>"</a:t>
            </a:r>
            <a:endParaRPr lang="ko-KR" altLang="en-US" b="1">
              <a:solidFill>
                <a:srgbClr val="FFFF00"/>
              </a:solidFill>
            </a:endParaRPr>
          </a:p>
        </p:txBody>
      </p:sp>
      <p:pic>
        <p:nvPicPr>
          <p:cNvPr id="19" name="그래픽 18" descr="남자">
            <a:extLst>
              <a:ext uri="{FF2B5EF4-FFF2-40B4-BE49-F238E27FC236}">
                <a16:creationId xmlns:a16="http://schemas.microsoft.com/office/drawing/2014/main" id="{00E71D7A-C09E-DB7C-883D-BC3B073800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2826070" y="4015670"/>
            <a:ext cx="914400" cy="9144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1" name="그래픽 20" descr="남자">
            <a:extLst>
              <a:ext uri="{FF2B5EF4-FFF2-40B4-BE49-F238E27FC236}">
                <a16:creationId xmlns:a16="http://schemas.microsoft.com/office/drawing/2014/main" id="{9681FB63-6C68-C646-0A25-87EEF6FF2C4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905356" y="4015670"/>
            <a:ext cx="914400" cy="9144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23" name="그래픽 22" descr="실행">
            <a:extLst>
              <a:ext uri="{FF2B5EF4-FFF2-40B4-BE49-F238E27FC236}">
                <a16:creationId xmlns:a16="http://schemas.microsoft.com/office/drawing/2014/main" id="{4C6B8292-2464-1866-DAAE-994472ACE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flipH="1">
            <a:off x="10050380" y="4015670"/>
            <a:ext cx="914400" cy="9144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D7801B0-AA2D-3020-2125-721CBEA8CC88}"/>
              </a:ext>
            </a:extLst>
          </p:cNvPr>
          <p:cNvSpPr txBox="1"/>
          <p:nvPr/>
        </p:nvSpPr>
        <p:spPr>
          <a:xfrm>
            <a:off x="5877394" y="3943433"/>
            <a:ext cx="41232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>
                <a:solidFill>
                  <a:schemeClr val="bg1"/>
                </a:solidFill>
              </a:rPr>
              <a:t>시그니쳐 아이스 아메리카노 샷추가로</a:t>
            </a:r>
            <a:endParaRPr lang="en-US" altLang="ko-KR">
              <a:solidFill>
                <a:schemeClr val="bg1"/>
              </a:solidFill>
            </a:endParaRPr>
          </a:p>
          <a:p>
            <a:pPr algn="r"/>
            <a:r>
              <a:rPr lang="ko-KR" altLang="en-US">
                <a:solidFill>
                  <a:schemeClr val="bg1"/>
                </a:solidFill>
              </a:rPr>
              <a:t>테이크아웃해주세요</a:t>
            </a:r>
            <a:endParaRPr lang="en-US" altLang="ko-KR">
              <a:solidFill>
                <a:schemeClr val="bg1"/>
              </a:solidFill>
            </a:endParaRPr>
          </a:p>
          <a:p>
            <a:pPr algn="r"/>
            <a:r>
              <a:rPr lang="ko-KR" altLang="en-US">
                <a:solidFill>
                  <a:schemeClr val="bg1"/>
                </a:solidFill>
              </a:rPr>
              <a:t>아 그리고 카페라떼도 하나</a:t>
            </a:r>
            <a:r>
              <a:rPr lang="en-US" altLang="ko-KR">
                <a:solidFill>
                  <a:schemeClr val="bg1"/>
                </a:solidFill>
              </a:rPr>
              <a:t>...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BD35BA-E43A-574C-DE09-DB6AE412D75F}"/>
              </a:ext>
            </a:extLst>
          </p:cNvPr>
          <p:cNvSpPr txBox="1"/>
          <p:nvPr/>
        </p:nvSpPr>
        <p:spPr>
          <a:xfrm>
            <a:off x="10168092" y="5002049"/>
            <a:ext cx="1788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Banana Presso</a:t>
            </a:r>
            <a:endParaRPr lang="ko-KR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88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0.06614 0.02639 C 0.08073 0.0331 0.0931 0.02801 0.10052 0.01343 C 0.10872 -0.00301 0.11002 -0.025 0.10482 -0.04977 L 0.0832 -0.16435 " pathEditMode="relative" rAng="18720000" ptsTypes="AAAAA">
                                      <p:cBhvr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22" y="-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07 -0.16459 L 0.66693 -0.16459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93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0.57942 -4.81481E-6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7.40741E-7 L -0.54831 7.40741E-7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422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4.81481E-6 L -0.54831 0.00325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422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831 7.40741E-7 L -0.64818 0.11805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24" grpId="0" build="allAtOnce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CC43C-2D9B-C5FA-09E5-CC6373A5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 유형 </a:t>
            </a:r>
            <a:r>
              <a:rPr lang="en-US" altLang="ko-KR"/>
              <a:t>- </a:t>
            </a:r>
            <a:r>
              <a:rPr lang="ko-KR" altLang="en-US"/>
              <a:t>입력값</a:t>
            </a:r>
            <a:r>
              <a:rPr lang="en-US" altLang="ko-KR"/>
              <a:t>, </a:t>
            </a:r>
            <a:r>
              <a:rPr lang="ko-KR" altLang="en-US"/>
              <a:t>반환값 모두 없는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8901B5-FF61-5569-DCAB-B20C65A61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/>
              <a:t>SayHello 			&gt; print "Hello"</a:t>
            </a:r>
          </a:p>
          <a:p>
            <a:pPr>
              <a:lnSpc>
                <a:spcPct val="150000"/>
              </a:lnSpc>
            </a:pPr>
            <a:r>
              <a:rPr lang="en-US" altLang="ko-KR"/>
              <a:t>SayWorld 			&gt; print "World"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PrintEnter 			&gt; print "=========="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PrintStar5 			&gt; print "*****"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PrintGoodbye 		&gt; print "Goodbye"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68151-7C37-8D96-6D05-25568E6AD672}"/>
              </a:ext>
            </a:extLst>
          </p:cNvPr>
          <p:cNvSpPr txBox="1"/>
          <p:nvPr/>
        </p:nvSpPr>
        <p:spPr>
          <a:xfrm>
            <a:off x="12496800" y="62475"/>
            <a:ext cx="6096000" cy="6740307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SayWorld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PrintEnter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"=========="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PrintStar5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"*****"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PrintGoodbye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print(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"Goodbye"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함수 실행 예시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SayHello()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SayWorld()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PrintEnter()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PrintStar5()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PrintGoodbye()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74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E0314-5861-E473-7015-12D8D0B7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 유형 </a:t>
            </a:r>
            <a:r>
              <a:rPr lang="en-US" altLang="ko-KR"/>
              <a:t>- </a:t>
            </a:r>
            <a:r>
              <a:rPr lang="ko-KR" altLang="en-US"/>
              <a:t>반환값만 존재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1C31CB-4D7A-BB77-77B3-6772B5CB7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GetPi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math.pi				/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math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Get5Star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"*****"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GetRandom10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random.randint(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	/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random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GetRandom100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random.randint(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GetRandomFruit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random.choice([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사과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바나나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파인애플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GetNow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datetime.datetime.now()	/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datetime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GetDate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datetime.date.today() 	/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datetime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GetOS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os.name				/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GetPlatform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platform.system() 	/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platform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8F639-EAFC-0894-70BA-EE134584CE0E}"/>
              </a:ext>
            </a:extLst>
          </p:cNvPr>
          <p:cNvSpPr txBox="1"/>
          <p:nvPr/>
        </p:nvSpPr>
        <p:spPr>
          <a:xfrm>
            <a:off x="12380686" y="-2292016"/>
            <a:ext cx="7031264" cy="11449288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math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GetPi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pi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GetPi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Get5Star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"*****"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Get5Star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random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GetRandom10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GetRandom10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GetRandom100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GetRandom100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GetRandomFruit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choice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사과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바나나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파인애플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GetRandomFruit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datetime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GetNow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GetNow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GetDate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today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GetDate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GetOS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GetOS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)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nt (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윈도우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platform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GetPlatform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GetPlatform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)</a:t>
            </a:r>
          </a:p>
        </p:txBody>
      </p:sp>
    </p:spTree>
    <p:extLst>
      <p:ext uri="{BB962C8B-B14F-4D97-AF65-F5344CB8AC3E}">
        <p14:creationId xmlns:p14="http://schemas.microsoft.com/office/powerpoint/2010/main" val="379764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2B3E0-6170-6F93-EA67-5D4B12EB4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F96A0-D0EA-1FB7-0AF2-472736F82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함수의 유형 예제 </a:t>
            </a:r>
            <a:r>
              <a:rPr lang="en-US" altLang="ko-KR"/>
              <a:t>- </a:t>
            </a:r>
            <a:r>
              <a:rPr lang="ko-KR" altLang="en-US"/>
              <a:t>입력값만 존재하는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51A102-3964-8DA7-0567-DFD4B3577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PrintOneNumber( n ) 			&gt; print n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PrintTwoNumber( n1, n2 ) 		&gt; print n1+n2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PrintThreeNumber( n1, n2, n3 )		&gt; print n1+n2+n3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PrintNumStar( star ) 			&gt; print "*" x star</a:t>
            </a:r>
          </a:p>
          <a:p>
            <a:pPr>
              <a:lnSpc>
                <a:spcPct val="150000"/>
              </a:lnSpc>
            </a:pPr>
            <a:r>
              <a:rPr lang="en-US" altLang="ko-KR"/>
              <a:t>EvenOrOdd( num ) 			&gt; print Even or Odd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PrintMax( n1, n2 ) 			&gt; print MaxValue(n1 or n2)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PrintMin( n1, n2 ) 				&gt; print MinValue(n1 or n2)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PrintUpper( text ) 				&gt; print text.upper()</a:t>
            </a:r>
          </a:p>
          <a:p>
            <a:pPr>
              <a:lnSpc>
                <a:spcPct val="150000"/>
              </a:lnSpc>
            </a:pPr>
            <a:r>
              <a:rPr lang="en-US" altLang="ko-KR"/>
              <a:t>PrintLower( test ) 				&gt; print text.lower()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98D07-C4BF-8A67-844F-DA9B9CCF9D31}"/>
              </a:ext>
            </a:extLst>
          </p:cNvPr>
          <p:cNvSpPr txBox="1"/>
          <p:nvPr/>
        </p:nvSpPr>
        <p:spPr>
          <a:xfrm>
            <a:off x="12409714" y="-1393525"/>
            <a:ext cx="4716236" cy="10341293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PrintOneNumber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PrintTwoNumber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PrintThreeNumber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n3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PrintNumStar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star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star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EvenOrOdd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"Even"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"Odd"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PrintMax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PrintMin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PrintUpper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.upper())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PrintLower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.lower())</a:t>
            </a:r>
          </a:p>
        </p:txBody>
      </p:sp>
    </p:spTree>
    <p:extLst>
      <p:ext uri="{BB962C8B-B14F-4D97-AF65-F5344CB8AC3E}">
        <p14:creationId xmlns:p14="http://schemas.microsoft.com/office/powerpoint/2010/main" val="404807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8D382-EC32-333C-0191-FAABBD20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236B7-7683-8F26-3D9E-273EFF59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함수의 유형 예제 </a:t>
            </a:r>
            <a:r>
              <a:rPr lang="en-US" altLang="ko-KR"/>
              <a:t>- </a:t>
            </a:r>
            <a:r>
              <a:rPr lang="ko-KR" altLang="en-US"/>
              <a:t>입력값과 반환값 모두 있는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DC9E1-025C-4FD4-E48D-600290FFA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81" y="759124"/>
            <a:ext cx="11808429" cy="56670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ReturnPlus( n1, n2 )			&gt; return n1+n2</a:t>
            </a:r>
          </a:p>
          <a:p>
            <a:pPr>
              <a:lnSpc>
                <a:spcPct val="150000"/>
              </a:lnSpc>
            </a:pPr>
            <a:r>
              <a:rPr lang="en-US" altLang="ko-KR"/>
              <a:t>ReturnMinus( n1, n2 ) 			&gt; return n1-n2</a:t>
            </a:r>
          </a:p>
          <a:p>
            <a:pPr>
              <a:lnSpc>
                <a:spcPct val="150000"/>
              </a:lnSpc>
            </a:pPr>
            <a:r>
              <a:rPr lang="en-US" altLang="ko-KR"/>
              <a:t>ReturnProduct ( n1, n2 ) 		&gt; return n1*n2</a:t>
            </a:r>
          </a:p>
          <a:p>
            <a:pPr>
              <a:lnSpc>
                <a:spcPct val="150000"/>
              </a:lnSpc>
            </a:pPr>
            <a:r>
              <a:rPr lang="en-US" altLang="ko-KR"/>
              <a:t>ReturnDivide ( n1, n2 ) 		&gt; return n1//n2</a:t>
            </a:r>
          </a:p>
          <a:p>
            <a:pPr>
              <a:lnSpc>
                <a:spcPct val="150000"/>
              </a:lnSpc>
            </a:pPr>
            <a:r>
              <a:rPr lang="en-US" altLang="ko-KR"/>
              <a:t>ReturnMod ( n1, n2 ) 			&gt; return n1%n2</a:t>
            </a:r>
          </a:p>
          <a:p>
            <a:pPr>
              <a:lnSpc>
                <a:spcPct val="150000"/>
              </a:lnSpc>
            </a:pPr>
            <a:r>
              <a:rPr lang="en-US" altLang="ko-KR"/>
              <a:t>ReturnPow2 ( n ) 			&gt; return n**2</a:t>
            </a:r>
          </a:p>
          <a:p>
            <a:pPr>
              <a:lnSpc>
                <a:spcPct val="150000"/>
              </a:lnSpc>
            </a:pPr>
            <a:r>
              <a:rPr lang="en-US" altLang="ko-KR"/>
              <a:t>ReturnPowN ( n,  pow ) 		&gt; return n**pow</a:t>
            </a:r>
          </a:p>
          <a:p>
            <a:pPr>
              <a:lnSpc>
                <a:spcPct val="150000"/>
              </a:lnSpc>
            </a:pPr>
            <a:r>
              <a:rPr lang="en-US" altLang="ko-KR"/>
              <a:t>ReturnEven1Odd0 ( n ) 			&gt; return Even(1) or Odd(0)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4236-07CF-3D55-BEBE-F9D6821CD380}"/>
              </a:ext>
            </a:extLst>
          </p:cNvPr>
          <p:cNvSpPr txBox="1"/>
          <p:nvPr/>
        </p:nvSpPr>
        <p:spPr>
          <a:xfrm>
            <a:off x="12534900" y="-218152"/>
            <a:ext cx="6096000" cy="7294305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ReturnPlus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ReturnMinus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ReturnProduct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ReturnDivide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ReturnMod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n2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ReturnPow2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**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ReturnPowN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power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**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power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ReturnEvenOdd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397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B794369C-36B9-5A2B-BDC7-8CB62984C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474" y="763939"/>
            <a:ext cx="5761219" cy="401761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58C768-EC9C-8F50-60B9-30C7CF920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29" y="1135936"/>
            <a:ext cx="4066384" cy="2920237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E5316B-CEA6-0BE3-5B0B-3B3B66A54370}"/>
              </a:ext>
            </a:extLst>
          </p:cNvPr>
          <p:cNvSpPr/>
          <p:nvPr/>
        </p:nvSpPr>
        <p:spPr>
          <a:xfrm>
            <a:off x="5934539" y="673142"/>
            <a:ext cx="5669695" cy="5900467"/>
          </a:xfrm>
          <a:prstGeom prst="rect">
            <a:avLst/>
          </a:prstGeom>
          <a:solidFill>
            <a:srgbClr val="1F1F1F">
              <a:alpha val="89804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035FDB-E3CF-6B14-6022-908DF64C2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 선언 위치의 중요성</a:t>
            </a:r>
          </a:p>
        </p:txBody>
      </p:sp>
      <p:pic>
        <p:nvPicPr>
          <p:cNvPr id="19" name="그래픽 18" descr="채우기 없는 화난 얼굴">
            <a:extLst>
              <a:ext uri="{FF2B5EF4-FFF2-40B4-BE49-F238E27FC236}">
                <a16:creationId xmlns:a16="http://schemas.microsoft.com/office/drawing/2014/main" id="{A82BED3B-3BB5-0C3A-E9B0-8943008B72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714186" y="1002862"/>
            <a:ext cx="914400" cy="9144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B557B0-1BC6-84A1-4705-167C761CB92C}"/>
              </a:ext>
            </a:extLst>
          </p:cNvPr>
          <p:cNvSpPr/>
          <p:nvPr/>
        </p:nvSpPr>
        <p:spPr>
          <a:xfrm>
            <a:off x="21331" y="821008"/>
            <a:ext cx="5669695" cy="5900467"/>
          </a:xfrm>
          <a:prstGeom prst="rect">
            <a:avLst/>
          </a:prstGeom>
          <a:solidFill>
            <a:srgbClr val="1F1F1F">
              <a:alpha val="89804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87970-8766-3BFB-8E3B-737EFDB2C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939" y="759124"/>
            <a:ext cx="4955701" cy="3464143"/>
          </a:xfrm>
        </p:spPr>
        <p:txBody>
          <a:bodyPr/>
          <a:lstStyle/>
          <a:p>
            <a:pPr marL="0" indent="0">
              <a:buNone/>
            </a:pP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TestFunction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t 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TestFunction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/>
          </a:p>
        </p:txBody>
      </p:sp>
      <p:pic>
        <p:nvPicPr>
          <p:cNvPr id="17" name="그래픽 16" descr="채우기 없는 웃는 얼굴">
            <a:extLst>
              <a:ext uri="{FF2B5EF4-FFF2-40B4-BE49-F238E27FC236}">
                <a16:creationId xmlns:a16="http://schemas.microsoft.com/office/drawing/2014/main" id="{2CC4EF65-C5E2-56E2-1546-982EFFA52C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501691" y="977462"/>
            <a:ext cx="914400" cy="914400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7895948-A017-C7BD-4925-6536C74F35A7}"/>
              </a:ext>
            </a:extLst>
          </p:cNvPr>
          <p:cNvCxnSpPr>
            <a:cxnSpLocks/>
          </p:cNvCxnSpPr>
          <p:nvPr/>
        </p:nvCxnSpPr>
        <p:spPr>
          <a:xfrm flipV="1">
            <a:off x="950748" y="1686910"/>
            <a:ext cx="0" cy="174209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6CD209D-2EC8-41AA-C151-198E2B8DF944}"/>
              </a:ext>
            </a:extLst>
          </p:cNvPr>
          <p:cNvSpPr txBox="1">
            <a:spLocks/>
          </p:cNvSpPr>
          <p:nvPr/>
        </p:nvSpPr>
        <p:spPr>
          <a:xfrm>
            <a:off x="6304658" y="759125"/>
            <a:ext cx="5669695" cy="4022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b="0">
              <a:solidFill>
                <a:srgbClr val="9B9B9B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="0">
                <a:latin typeface="Consolas" panose="020B0609020204030204" pitchFamily="49" charset="0"/>
              </a:rPr>
              <a:t>TestFunction( 10 )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E97BBD-BDF0-85C1-B01D-C49CD4F59B94}"/>
              </a:ext>
            </a:extLst>
          </p:cNvPr>
          <p:cNvSpPr txBox="1"/>
          <p:nvPr/>
        </p:nvSpPr>
        <p:spPr>
          <a:xfrm>
            <a:off x="10542868" y="127539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</a:rPr>
              <a:t>?????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7FB32C-3397-DAFB-F6FC-5ACE86A75D5E}"/>
              </a:ext>
            </a:extLst>
          </p:cNvPr>
          <p:cNvSpPr txBox="1"/>
          <p:nvPr/>
        </p:nvSpPr>
        <p:spPr>
          <a:xfrm>
            <a:off x="2057875" y="4488462"/>
            <a:ext cx="8076250" cy="1301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>
                <a:solidFill>
                  <a:schemeClr val="bg1"/>
                </a:solidFill>
              </a:rPr>
              <a:t>파이썬은 코드를 위에서부터 한줄씩 실행하기에</a:t>
            </a:r>
            <a:endParaRPr lang="en-US" altLang="ko-KR" sz="2800" b="1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800" b="1">
                <a:solidFill>
                  <a:schemeClr val="bg1"/>
                </a:solidFill>
              </a:rPr>
              <a:t>반드시 함수 호출 전</a:t>
            </a:r>
            <a:r>
              <a:rPr lang="en-US" altLang="ko-KR" sz="2800" b="1">
                <a:solidFill>
                  <a:schemeClr val="bg1"/>
                </a:solidFill>
              </a:rPr>
              <a:t>, </a:t>
            </a:r>
            <a:r>
              <a:rPr lang="ko-KR" altLang="en-US" sz="2800" b="1">
                <a:solidFill>
                  <a:schemeClr val="bg1"/>
                </a:solidFill>
              </a:rPr>
              <a:t>함수가 정의되어 있어야 함</a:t>
            </a:r>
            <a:r>
              <a:rPr lang="en-US" altLang="ko-KR" sz="2800" b="1">
                <a:solidFill>
                  <a:schemeClr val="bg1"/>
                </a:solidFill>
              </a:rPr>
              <a:t>!</a:t>
            </a:r>
            <a:endParaRPr lang="ko-KR" altLang="en-US" sz="2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11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D14B8-4D7A-66EF-DF61-5E5EF749C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 실습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72D01E-FD39-659A-711F-16F539462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6" y="759124"/>
            <a:ext cx="12206144" cy="5498801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MakeList1(size)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숫자만큼 </a:t>
            </a:r>
            <a:r>
              <a:rPr lang="en-US" altLang="ko-KR" b="0">
                <a:effectLst/>
                <a:latin typeface="Consolas" panose="020B0609020204030204" pitchFamily="49" charset="0"/>
              </a:rPr>
              <a:t>0</a:t>
            </a:r>
            <a:r>
              <a:rPr lang="ko-KR" altLang="en-US" b="0">
                <a:effectLst/>
                <a:latin typeface="Consolas" panose="020B0609020204030204" pitchFamily="49" charset="0"/>
              </a:rPr>
              <a:t>의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개수가 들어있는 리스트를 리턴하는 함수 구현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MakeList2(size)</a:t>
            </a:r>
          </a:p>
          <a:p>
            <a:pPr lvl="1"/>
            <a:r>
              <a:rPr lang="en-US" altLang="ko-KR" b="0">
                <a:effectLst/>
                <a:latin typeface="Consolas" panose="020B0609020204030204" pitchFamily="49" charset="0"/>
              </a:rPr>
              <a:t>1</a:t>
            </a:r>
            <a:r>
              <a:rPr lang="ko-KR" altLang="en-US" b="0">
                <a:effectLst/>
                <a:latin typeface="Consolas" panose="020B0609020204030204" pitchFamily="49" charset="0"/>
              </a:rPr>
              <a:t>부터 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숫자까지 순서대로 데이터가 들어있는 리스트를 리턴하는 함수 구현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MakeList3(start, end)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숫자 두개를 넘겨받아 첫 숫자부터 두번째 숫자까지 순서대로 데이터가 들어있는 리스트를 리턴하는 함수 구현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MakeList</a:t>
            </a:r>
            <a:r>
              <a:rPr lang="en-US" altLang="ko-KR" b="0">
                <a:solidFill>
                  <a:srgbClr val="D4D4D4"/>
                </a:solidFill>
                <a:latin typeface="Consolas" panose="020B0609020204030204" pitchFamily="49" charset="0"/>
              </a:rPr>
              <a:t>Random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(size)</a:t>
            </a:r>
          </a:p>
          <a:p>
            <a:pPr lvl="1"/>
            <a:r>
              <a:rPr lang="en-US" altLang="ko-KR" b="0">
                <a:effectLst/>
                <a:latin typeface="Consolas" panose="020B0609020204030204" pitchFamily="49" charset="0"/>
              </a:rPr>
              <a:t>1</a:t>
            </a:r>
            <a:r>
              <a:rPr lang="ko-KR" altLang="en-US" b="0">
                <a:effectLst/>
                <a:latin typeface="Consolas" panose="020B0609020204030204" pitchFamily="49" charset="0"/>
              </a:rPr>
              <a:t>부터 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숫자만큼 랜덤한 숫자가 넘겨받은 숫자 개수만큼 들어있는 리스트를 리턴하는 함수 구현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JudgementList(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데이터가 리스트면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아니면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리턴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리스트를 넘겨받는 함수는 이 함수를 사용할 수 있도록 하세요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PrintList(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리스트에 대해 모든 요소를 공백으로 구분해서 출력하는 함수 구현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이때 넘겨받은 데이터가 리스트가 아닐 경우 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출력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PrintListReverse(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리스트에 대해 모든 요소를 공백으로 구분해서 역순으로 출력하는 함수 구현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이때 넘겨받은 데이터가 리스트가 아닐 경우 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출력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74E3B-3FC6-6A52-6658-E01EA37C12F9}"/>
              </a:ext>
            </a:extLst>
          </p:cNvPr>
          <p:cNvSpPr txBox="1"/>
          <p:nvPr/>
        </p:nvSpPr>
        <p:spPr>
          <a:xfrm>
            <a:off x="13308829" y="-356652"/>
            <a:ext cx="6134100" cy="7571303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6.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7.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PrintListReverse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)-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0C13B-F321-C5DB-83B7-CBB5D77FD18E}"/>
              </a:ext>
            </a:extLst>
          </p:cNvPr>
          <p:cNvSpPr txBox="1"/>
          <p:nvPr/>
        </p:nvSpPr>
        <p:spPr>
          <a:xfrm>
            <a:off x="-8252778" y="-1209368"/>
            <a:ext cx="7676536" cy="10064294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MakeList1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내포방식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[0 for _ in range(size)]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2. 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MakeList2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내포방식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[i for i in range(1, size+1)]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MakeList3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내포방식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[i for i in range(start, end+1)]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4.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MakeListRandom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randint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lst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내포방식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[random.randint(1, size) for _ in range(size)]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9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49799-5075-CC34-C067-FBA30896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E3917-DC44-54EB-E789-BDECF94C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 실습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12CF40-C4EC-CC81-056D-18A94BFB5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81" y="759125"/>
            <a:ext cx="11808429" cy="57083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공통적용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넘겨받은 데이터가 리스트가 아닐 경우 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출력</a:t>
            </a:r>
          </a:p>
          <a:p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 startAt="8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DoubleUpList(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리스트의 모든 요소의 값을 </a:t>
            </a:r>
            <a:r>
              <a:rPr lang="en-US" altLang="ko-KR" b="0">
                <a:effectLst/>
                <a:latin typeface="Consolas" panose="020B0609020204030204" pitchFamily="49" charset="0"/>
              </a:rPr>
              <a:t>2</a:t>
            </a:r>
            <a:r>
              <a:rPr lang="ko-KR" altLang="en-US" b="0">
                <a:effectLst/>
                <a:latin typeface="Consolas" panose="020B0609020204030204" pitchFamily="49" charset="0"/>
              </a:rPr>
              <a:t>배로 </a:t>
            </a:r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증가시키는 함수 구현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CalcListMax(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리스트에 대해 최대값을 출력하는 함수 구현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CalcListMin(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리스트에 대해 최소값을 출력하는 함수 구현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FindListMax(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리스트에 대해 최대값 위치를 찾아 리턴하는 함수 구현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FindListMin(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리스트에 대해 최소값 위치를 찾아 리턴하는 함수 구현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CalcListSum(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리스트에 대해 합계를 계산 후 리턴하는 함수 구현</a:t>
            </a:r>
          </a:p>
          <a:p>
            <a:pPr marL="457200" indent="-457200">
              <a:buFont typeface="+mj-lt"/>
              <a:buAutoNum type="arabicPeriod" startAt="8"/>
            </a:pP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CalcListAverage( lst )</a:t>
            </a:r>
          </a:p>
          <a:p>
            <a:pPr lvl="1"/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넘겨받은 리스트에 대해 평균값을 계산 후 리턴하는 함수 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DED80-97DF-EB1F-B2C7-F95F26D498E6}"/>
              </a:ext>
            </a:extLst>
          </p:cNvPr>
          <p:cNvSpPr txBox="1"/>
          <p:nvPr/>
        </p:nvSpPr>
        <p:spPr>
          <a:xfrm>
            <a:off x="12463429" y="-1603147"/>
            <a:ext cx="4821681" cy="9510296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11.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FindListMax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maxIndex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maxIndex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maxIndex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유틸 함수 이용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lst.index(max(lst))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12.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FindListMin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minIndex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&lt;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minIndex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minIndex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유틸 함수 이용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lst.index(min(lst))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97DC4-DA43-92D3-1BEC-8F2045F3423D}"/>
              </a:ext>
            </a:extLst>
          </p:cNvPr>
          <p:cNvSpPr txBox="1"/>
          <p:nvPr/>
        </p:nvSpPr>
        <p:spPr>
          <a:xfrm>
            <a:off x="-6272069" y="-1603147"/>
            <a:ext cx="5529173" cy="10064294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8.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DoubleUpList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]*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lst[i] *= 2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9.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CalcListMax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최대값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maxValue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유틸 함수 사용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print("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최대값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:", max(lst))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10.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CalcListMin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최소값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minValue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유틸 함수 사용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print("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최소값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:", min(lst))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099AD-35E6-6CBE-3578-DC31C1FEE939}"/>
              </a:ext>
            </a:extLst>
          </p:cNvPr>
          <p:cNvSpPr txBox="1"/>
          <p:nvPr/>
        </p:nvSpPr>
        <p:spPr>
          <a:xfrm>
            <a:off x="17792329" y="-79653"/>
            <a:ext cx="5244468" cy="6463308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13.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CalcListSum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x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(total)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유틸 함수 사용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sum(lst)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14.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CalcListAverage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JudgementList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출력 불가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CalcListSum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lst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리스트 유틸 함수 사용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return sum(lst) / len(lst)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093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371F8-EB00-AF48-8FBE-915BB79A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함수 실습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2444C1-F057-59DA-F835-808D29C51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전달받은 문자열을 모두 출력하는 함수를 만드세요</a:t>
            </a:r>
            <a:endParaRPr lang="en-US" altLang="ko-KR"/>
          </a:p>
          <a:p>
            <a:r>
              <a:rPr lang="ko-KR" altLang="en-US"/>
              <a:t>문자열을 함수에 전달해서 해당 문자열의 길이를 구하세요</a:t>
            </a:r>
            <a:r>
              <a:rPr lang="en-US" altLang="ko-KR"/>
              <a:t>(strlen</a:t>
            </a:r>
            <a:r>
              <a:rPr lang="ko-KR" altLang="en-US"/>
              <a:t>금지</a:t>
            </a:r>
            <a:r>
              <a:rPr lang="en-US" altLang="ko-KR"/>
              <a:t>)</a:t>
            </a:r>
          </a:p>
          <a:p>
            <a:r>
              <a:rPr lang="ko-KR" altLang="en-US"/>
              <a:t>문자열을 함수에 전달해서 한글자씩 개행해서 출력</a:t>
            </a:r>
            <a:endParaRPr lang="en-US" altLang="ko-KR"/>
          </a:p>
          <a:p>
            <a:r>
              <a:rPr lang="ko-KR" altLang="en-US"/>
              <a:t>문자열을 함수에 전달해서 역순으로 출력</a:t>
            </a:r>
            <a:endParaRPr lang="en-US" altLang="ko-KR"/>
          </a:p>
          <a:p>
            <a:r>
              <a:rPr lang="ko-KR" altLang="en-US"/>
              <a:t>문자열을 함수에 전달해서 공백의 개수를 반환</a:t>
            </a:r>
            <a:endParaRPr lang="en-US" altLang="ko-KR"/>
          </a:p>
          <a:p>
            <a:r>
              <a:rPr lang="ko-KR" altLang="en-US"/>
              <a:t>문자열을 함수에 전달해서 소문자</a:t>
            </a:r>
            <a:r>
              <a:rPr lang="en-US" altLang="ko-KR"/>
              <a:t>(a~z)</a:t>
            </a:r>
            <a:r>
              <a:rPr lang="ko-KR" altLang="en-US"/>
              <a:t>의 개수를 구하세요</a:t>
            </a:r>
            <a:endParaRPr lang="en-US" altLang="ko-KR"/>
          </a:p>
          <a:p>
            <a:r>
              <a:rPr lang="ko-KR" altLang="en-US"/>
              <a:t>전역변수 </a:t>
            </a:r>
            <a:r>
              <a:rPr lang="en-US" altLang="ko-KR"/>
              <a:t>alpha</a:t>
            </a:r>
            <a:r>
              <a:rPr lang="ko-KR" altLang="en-US"/>
              <a:t>를 선언</a:t>
            </a:r>
            <a:r>
              <a:rPr lang="en-US" altLang="ko-KR"/>
              <a:t>. </a:t>
            </a:r>
            <a:r>
              <a:rPr lang="ko-KR" altLang="en-US"/>
              <a:t>문자열을 함수에 전달해서 소문자 알파벳 각각 몇개인지 저장</a:t>
            </a:r>
            <a:endParaRPr lang="en-US" altLang="ko-KR"/>
          </a:p>
          <a:p>
            <a:r>
              <a:rPr lang="ko-KR" altLang="en-US"/>
              <a:t>문자열 배열 두개를 전달해서</a:t>
            </a:r>
            <a:r>
              <a:rPr lang="en-US" altLang="ko-KR"/>
              <a:t>, </a:t>
            </a:r>
            <a:r>
              <a:rPr lang="ko-KR" altLang="en-US"/>
              <a:t>두번째 문자열을 첫번째 문자열에 저장하세요</a:t>
            </a:r>
            <a:r>
              <a:rPr lang="en-US" altLang="ko-KR"/>
              <a:t>(strcpy</a:t>
            </a:r>
            <a:r>
              <a:rPr lang="ko-KR" altLang="en-US"/>
              <a:t>금지</a:t>
            </a:r>
            <a:r>
              <a:rPr lang="en-US" altLang="ko-KR"/>
              <a:t>)</a:t>
            </a:r>
          </a:p>
          <a:p>
            <a:r>
              <a:rPr lang="ko-KR" altLang="en-US"/>
              <a:t>문자열 두개를 전달받아 첫번째 문자열 뒤쪽에 두번째 문자열을 붙여서 저장하세요</a:t>
            </a:r>
            <a:r>
              <a:rPr lang="en-US" altLang="ko-KR"/>
              <a:t>(strcat</a:t>
            </a:r>
            <a:r>
              <a:rPr lang="ko-KR" altLang="en-US"/>
              <a:t>금지</a:t>
            </a:r>
            <a:r>
              <a:rPr lang="en-US" altLang="ko-KR"/>
              <a:t>)</a:t>
            </a:r>
          </a:p>
          <a:p>
            <a:r>
              <a:rPr lang="ko-KR" altLang="en-US"/>
              <a:t>문자열을 전달받아 소문자를 대문자</a:t>
            </a:r>
            <a:r>
              <a:rPr lang="en-US" altLang="ko-KR"/>
              <a:t>, </a:t>
            </a:r>
            <a:r>
              <a:rPr lang="ko-KR" altLang="en-US"/>
              <a:t>대문자를 소문자로 변환하세요</a:t>
            </a:r>
          </a:p>
        </p:txBody>
      </p:sp>
    </p:spTree>
    <p:extLst>
      <p:ext uri="{BB962C8B-B14F-4D97-AF65-F5344CB8AC3E}">
        <p14:creationId xmlns:p14="http://schemas.microsoft.com/office/powerpoint/2010/main" val="1892243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753D9-E39A-C0D2-87C0-3496B836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재귀함수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1D8035-1368-0B9C-BDB3-643DEAC0B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81" y="759124"/>
            <a:ext cx="11808429" cy="5865195"/>
          </a:xfrm>
        </p:spPr>
        <p:txBody>
          <a:bodyPr>
            <a:normAutofit/>
          </a:bodyPr>
          <a:lstStyle/>
          <a:p>
            <a:r>
              <a:rPr lang="ko-KR" altLang="en-US"/>
              <a:t>자기 자신을 호출하는 함수</a:t>
            </a:r>
            <a:endParaRPr lang="en-US" altLang="ko-KR"/>
          </a:p>
          <a:p>
            <a:r>
              <a:rPr lang="ko-KR" altLang="en-US"/>
              <a:t>복잡한 문제를 간결하고 직관적으로 표현 가능</a:t>
            </a:r>
            <a:endParaRPr lang="en-US" altLang="ko-KR"/>
          </a:p>
          <a:p>
            <a:r>
              <a:rPr lang="ko-KR" altLang="en-US"/>
              <a:t>종료 조건이 필요함</a:t>
            </a:r>
            <a:endParaRPr lang="en-US" altLang="ko-KR"/>
          </a:p>
          <a:p>
            <a:pPr marL="457200" lvl="1" indent="0">
              <a:buNone/>
            </a:pPr>
            <a:r>
              <a:rPr lang="pt-BR" altLang="ko-K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ko-KR" sz="2400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457200" lvl="1" indent="0">
              <a:buNone/>
            </a:pP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pt-BR" altLang="ko-KR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altLang="ko-K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pt-BR" altLang="ko-KR" sz="2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altLang="ko-KR" sz="24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altLang="ko-KR" sz="24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ko-KR" sz="2400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altLang="ko-KR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pt-BR" altLang="ko-KR" sz="24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ko-KR" sz="24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pt-BR" altLang="ko-KR" sz="2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pt-BR" altLang="ko-KR" sz="24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ko-KR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"Factorial 5 :" </a:t>
            </a:r>
            <a:r>
              <a:rPr lang="pt-BR" altLang="ko-KR" sz="2400" b="0"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ko-KR" sz="2400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pt-BR" altLang="ko-KR" sz="2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)</a:t>
            </a:r>
            <a:endParaRPr lang="pt-BR" altLang="ko-KR" sz="10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altLang="ko-KR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pt-BR" altLang="ko-KR" sz="14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pt-BR" altLang="ko-KR" sz="1400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30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2200"/>
              <a:t> Factorial of 5: 120</a:t>
            </a:r>
            <a:endParaRPr lang="en-US" altLang="ko-KR" sz="3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/>
          </a:p>
        </p:txBody>
      </p:sp>
      <p:pic>
        <p:nvPicPr>
          <p:cNvPr id="2050" name="Picture 2" descr="재귀함수">
            <a:extLst>
              <a:ext uri="{FF2B5EF4-FFF2-40B4-BE49-F238E27FC236}">
                <a16:creationId xmlns:a16="http://schemas.microsoft.com/office/drawing/2014/main" id="{DEA76DE8-2A65-CD11-303A-83B577C4E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836" y="3429000"/>
            <a:ext cx="3381374" cy="313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152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66298-9853-2983-3160-D3669F94C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재귀함수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86DFCF-3B66-CA55-DF7B-050AC2DB5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팩토리얼</a:t>
            </a:r>
            <a:endParaRPr lang="en-US" altLang="ko-KR"/>
          </a:p>
          <a:p>
            <a:pPr lvl="1"/>
            <a:r>
              <a:rPr lang="en-US" altLang="ko-KR"/>
              <a:t>F(n) = n! = n*(n-1)</a:t>
            </a:r>
          </a:p>
          <a:p>
            <a:r>
              <a:rPr lang="ko-KR" altLang="en-US"/>
              <a:t>피보나치 수열</a:t>
            </a:r>
            <a:endParaRPr lang="en-US" altLang="ko-KR"/>
          </a:p>
          <a:p>
            <a:pPr lvl="1"/>
            <a:r>
              <a:rPr lang="en-US" altLang="ko-KR"/>
              <a:t>F(n) = F(n-1) + F(n-2)</a:t>
            </a:r>
          </a:p>
          <a:p>
            <a:r>
              <a:rPr lang="en-US" altLang="ko-KR"/>
              <a:t>1</a:t>
            </a:r>
            <a:r>
              <a:rPr lang="ko-KR" altLang="en-US"/>
              <a:t>부터 </a:t>
            </a:r>
            <a:r>
              <a:rPr lang="en-US" altLang="ko-KR"/>
              <a:t>n</a:t>
            </a:r>
            <a:r>
              <a:rPr lang="ko-KR" altLang="en-US"/>
              <a:t>까지의 합</a:t>
            </a:r>
            <a:endParaRPr lang="en-US" altLang="ko-KR"/>
          </a:p>
          <a:p>
            <a:pPr lvl="1"/>
            <a:r>
              <a:rPr lang="en-US" altLang="ko-KR"/>
              <a:t>SumN(n) = n + SumN(n-1)</a:t>
            </a:r>
          </a:p>
          <a:p>
            <a:r>
              <a:rPr lang="ko-KR" altLang="en-US"/>
              <a:t>숫자 뒤집기</a:t>
            </a:r>
            <a:endParaRPr lang="en-US" altLang="ko-KR"/>
          </a:p>
          <a:p>
            <a:pPr lvl="1"/>
            <a:r>
              <a:rPr lang="en-US" altLang="ko-KR"/>
              <a:t>printReserve(123) &gt; 321</a:t>
            </a:r>
          </a:p>
          <a:p>
            <a:r>
              <a:rPr lang="ko-KR" altLang="en-US"/>
              <a:t>문자 뒤집기</a:t>
            </a:r>
            <a:endParaRPr lang="en-US" altLang="ko-KR"/>
          </a:p>
          <a:p>
            <a:pPr lvl="1"/>
            <a:r>
              <a:rPr lang="en-US" altLang="ko-KR"/>
              <a:t>ReverseString("Hello World") &gt; "dlroW olleH"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88BB7A-6AF4-A815-F5DB-8842720DCA88}"/>
              </a:ext>
            </a:extLst>
          </p:cNvPr>
          <p:cNvSpPr txBox="1"/>
          <p:nvPr/>
        </p:nvSpPr>
        <p:spPr>
          <a:xfrm>
            <a:off x="12484100" y="-2988141"/>
            <a:ext cx="6870700" cy="12834283"/>
          </a:xfrm>
          <a:prstGeom prst="rect">
            <a:avLst/>
          </a:prstGeom>
          <a:solidFill>
            <a:srgbClr val="1F1F1F"/>
          </a:solidFill>
        </p:spPr>
        <p:txBody>
          <a:bodyPr wrap="square">
            <a:spAutoFit/>
          </a:bodyPr>
          <a:lstStyle/>
          <a:p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팩토리얼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120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피보나치 수열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Fibonacci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55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1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부터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까지의 합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SumN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SumN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SumN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55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숫자 뒤집기</a:t>
            </a:r>
            <a:endParaRPr lang="ko-KR" alt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PrintReverseNumber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PrintReverseNumber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PrintReverseNumber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321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문자 뒤집기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ReverseString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ReverseString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7F7F7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[:-</a:t>
            </a:r>
            <a:r>
              <a:rPr lang="en-US" altLang="ko-KR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ReverseString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altLang="ko-KR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dlroW olleH</a:t>
            </a: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altLang="ko-KR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EA8D34-3B90-6082-405A-CB6BE186B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509" y="3004314"/>
            <a:ext cx="3267531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4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>
            <a:alpha val="20000"/>
          </a:srgbClr>
        </a:solidFill>
        <a:ln w="28575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/>
          </a:solidFill>
          <a:prstDash val="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9473</TotalTime>
  <Words>624</Words>
  <Application>Microsoft Office PowerPoint</Application>
  <PresentationFormat>와이드스크린</PresentationFormat>
  <Paragraphs>429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Consolas</vt:lpstr>
      <vt:lpstr>Office 테마</vt:lpstr>
      <vt:lpstr>PowerPoint 프레젠테이션</vt:lpstr>
      <vt:lpstr>함수 ?</vt:lpstr>
      <vt:lpstr>함수</vt:lpstr>
      <vt:lpstr>함수의 구성요소</vt:lpstr>
      <vt:lpstr>함수의 동작원리</vt:lpstr>
      <vt:lpstr>함수 유형 - 입력값, 반환값 모두 없는 경우</vt:lpstr>
      <vt:lpstr>함수 유형 - 반환값만 존재 1</vt:lpstr>
      <vt:lpstr>함수의 유형 예제 - 입력값만 존재하는 경우</vt:lpstr>
      <vt:lpstr>함수의 유형 예제 - 입력값과 반환값 모두 있는 경우</vt:lpstr>
      <vt:lpstr>함수 선언 위치의 중요성</vt:lpstr>
      <vt:lpstr>함수 실습 1</vt:lpstr>
      <vt:lpstr>함수 실습 2</vt:lpstr>
      <vt:lpstr>함수 실습 2</vt:lpstr>
      <vt:lpstr>재귀함수</vt:lpstr>
      <vt:lpstr>재귀함수 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강대성</dc:creator>
  <cp:lastModifiedBy>ITSC</cp:lastModifiedBy>
  <cp:revision>1037</cp:revision>
  <dcterms:created xsi:type="dcterms:W3CDTF">2024-12-17T17:07:48Z</dcterms:created>
  <dcterms:modified xsi:type="dcterms:W3CDTF">2025-09-13T23:57:13Z</dcterms:modified>
</cp:coreProperties>
</file>